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24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0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3317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 DAX 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MAX, MIN, COUNTROWS, DISTINCTCOUNT, DIVIDE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2457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2457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997145"/>
            <a:ext cx="5120640" cy="58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discount percentage across all sales transactions?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710263"/>
            <a:ext cx="6108192" cy="704022"/>
          </a:xfrm>
          <a:prstGeom prst="roundRect">
            <a:avLst>
              <a:gd name="adj" fmla="val 1039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6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38279"/>
            <a:ext cx="5852160" cy="4479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9066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90667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879240"/>
            <a:ext cx="5120640" cy="70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quantity of items purchased in each order?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3719684"/>
            <a:ext cx="6108192" cy="1703397"/>
          </a:xfrm>
          <a:prstGeom prst="roundRect">
            <a:avLst>
              <a:gd name="adj" fmla="val 429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16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47700"/>
            <a:ext cx="5852160" cy="144736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86916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586916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584173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 (AOV)?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381229"/>
            <a:ext cx="6108192" cy="1675514"/>
          </a:xfrm>
          <a:prstGeom prst="roundRect">
            <a:avLst>
              <a:gd name="adj" fmla="val 436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17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509245"/>
            <a:ext cx="5852160" cy="14194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6737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6737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63994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Profit earned per transaction?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179439"/>
            <a:ext cx="6108192" cy="1965793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7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7455"/>
            <a:ext cx="5852160" cy="17097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52187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52187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494443"/>
            <a:ext cx="5120640" cy="59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revenue generated from a single order?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253860"/>
            <a:ext cx="6108192" cy="1028230"/>
          </a:xfrm>
          <a:prstGeom prst="roundRect">
            <a:avLst>
              <a:gd name="adj" fmla="val 711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17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81876"/>
            <a:ext cx="5852160" cy="77219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69345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569345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5666022"/>
            <a:ext cx="5120640" cy="65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does the company earn from each customer on average?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448592"/>
            <a:ext cx="6108192" cy="1571818"/>
          </a:xfrm>
          <a:prstGeom prst="roundRect">
            <a:avLst>
              <a:gd name="adj" fmla="val 465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17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576608"/>
            <a:ext cx="5852160" cy="1315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6651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6651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08479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Sales Amount per Customer?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578574"/>
            <a:ext cx="6108192" cy="2106544"/>
          </a:xfrm>
          <a:prstGeom prst="roundRect">
            <a:avLst>
              <a:gd name="adj" fmla="val 347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6590"/>
            <a:ext cx="5852160" cy="1850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061759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061759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08187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orders were cancelled?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575646"/>
            <a:ext cx="6108192" cy="3012725"/>
          </a:xfrm>
          <a:prstGeom prst="roundRect">
            <a:avLst>
              <a:gd name="adj" fmla="val 242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18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01839"/>
            <a:ext cx="5852160" cy="27566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579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57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1836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revenue came from completed orders only?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254631"/>
            <a:ext cx="6108192" cy="2525237"/>
          </a:xfrm>
          <a:prstGeom prst="roundRect">
            <a:avLst>
              <a:gd name="adj" fmla="val 289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2647"/>
            <a:ext cx="5852160" cy="22692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15650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15650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129075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highest revenue generated from a single transaction?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888492"/>
            <a:ext cx="6108192" cy="991993"/>
          </a:xfrm>
          <a:prstGeom prst="roundRect">
            <a:avLst>
              <a:gd name="adj" fmla="val 737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18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16508"/>
            <a:ext cx="5852160" cy="73596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629185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629185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626441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smallest transaction amount?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803914"/>
            <a:ext cx="6108192" cy="1338072"/>
          </a:xfrm>
          <a:prstGeom prst="roundRect">
            <a:avLst>
              <a:gd name="adj" fmla="val 546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19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931930"/>
            <a:ext cx="5852160" cy="108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13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301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626037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the total revenue is profit?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142200"/>
            <a:ext cx="6108192" cy="1077487"/>
          </a:xfrm>
          <a:prstGeom prst="roundRect">
            <a:avLst>
              <a:gd name="adj" fmla="val 678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0216"/>
            <a:ext cx="5852160" cy="8214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457431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457431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498579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orders were returned?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2969495"/>
            <a:ext cx="6108192" cy="3257986"/>
          </a:xfrm>
          <a:prstGeom prst="roundRect">
            <a:avLst>
              <a:gd name="adj" fmla="val 224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19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7511"/>
            <a:ext cx="5852160" cy="300195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646522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646522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648351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total cost incurred by the company?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977289"/>
            <a:ext cx="6108192" cy="1184531"/>
          </a:xfrm>
          <a:prstGeom prst="roundRect">
            <a:avLst>
              <a:gd name="adj" fmla="val 617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19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7105305"/>
            <a:ext cx="5852160" cy="928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1095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11095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12923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have been placed in total?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623014"/>
            <a:ext cx="6108192" cy="1342228"/>
          </a:xfrm>
          <a:prstGeom prst="roundRect">
            <a:avLst>
              <a:gd name="adj" fmla="val 545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19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1030"/>
            <a:ext cx="5852160" cy="10861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55022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55022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59594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profit earned by the company?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062286"/>
            <a:ext cx="6108192" cy="1199286"/>
          </a:xfrm>
          <a:prstGeom prst="roundRect">
            <a:avLst>
              <a:gd name="adj" fmla="val 610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2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90302"/>
            <a:ext cx="5852160" cy="94325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89286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589286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5865432"/>
            <a:ext cx="5120640" cy="6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wants to see the total revenue generated by the company.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636424"/>
            <a:ext cx="6108192" cy="951992"/>
          </a:xfrm>
          <a:prstGeom prst="roundRect">
            <a:avLst>
              <a:gd name="adj" fmla="val 768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2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764440"/>
            <a:ext cx="5852160" cy="69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5279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35279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3325365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unique customers have purchased at least once?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4119506"/>
            <a:ext cx="6108192" cy="1065007"/>
          </a:xfrm>
          <a:prstGeom prst="roundRect">
            <a:avLst>
              <a:gd name="adj" fmla="val 686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2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47522"/>
            <a:ext cx="5852160" cy="808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3317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Context DAX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FILTER, ALL, OR / NOT conditions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71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71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457284"/>
            <a:ext cx="5120640" cy="59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from VIP customers only?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181980"/>
            <a:ext cx="6108192" cy="1881958"/>
          </a:xfrm>
          <a:prstGeom prst="roundRect">
            <a:avLst>
              <a:gd name="adj" fmla="val 388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4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9996"/>
            <a:ext cx="5852160" cy="16259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405853"/>
            <a:ext cx="566928" cy="361111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405853"/>
            <a:ext cx="566928" cy="3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378421"/>
            <a:ext cx="5120640" cy="573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came from orders where the discount percentage was greater than 20%?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079967"/>
            <a:ext cx="6108192" cy="1632235"/>
          </a:xfrm>
          <a:prstGeom prst="roundRect">
            <a:avLst>
              <a:gd name="adj" fmla="val 4482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46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07983"/>
            <a:ext cx="5852160" cy="13762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605410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605410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6026674"/>
            <a:ext cx="5120640" cy="55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from customers who are older than 40 years?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739795"/>
            <a:ext cx="6108192" cy="1486417"/>
          </a:xfrm>
          <a:prstGeom prst="roundRect">
            <a:avLst>
              <a:gd name="adj" fmla="val 492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5_0147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867811"/>
            <a:ext cx="5852160" cy="1230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3308"/>
            <a:ext cx="566928" cy="382973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3308"/>
            <a:ext cx="566928" cy="38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345876"/>
            <a:ext cx="5120640" cy="60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from Electronics products only?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082144"/>
            <a:ext cx="6108192" cy="1713809"/>
          </a:xfrm>
          <a:prstGeom prst="roundRect">
            <a:avLst>
              <a:gd name="adj" fmla="val 426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5_0147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10160"/>
            <a:ext cx="5852160" cy="1457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50826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50826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48083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profit was earned from Electronics products only?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205523"/>
            <a:ext cx="6108192" cy="1819586"/>
          </a:xfrm>
          <a:prstGeom prst="roundRect">
            <a:avLst>
              <a:gd name="adj" fmla="val 402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5_0147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333539"/>
            <a:ext cx="5852160" cy="15635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019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1019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82761"/>
            <a:ext cx="5120640" cy="59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are older than the average customer age?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07455"/>
            <a:ext cx="6108192" cy="2527217"/>
          </a:xfrm>
          <a:prstGeom prst="roundRect">
            <a:avLst>
              <a:gd name="adj" fmla="val 289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6_002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5471"/>
            <a:ext cx="5852160" cy="22711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199740"/>
            <a:ext cx="566928" cy="353821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199740"/>
            <a:ext cx="566928" cy="35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172308"/>
            <a:ext cx="5120640" cy="56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profit was generated from VIP customers who are older than 40 years?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862276"/>
            <a:ext cx="6108192" cy="3342634"/>
          </a:xfrm>
          <a:prstGeom prst="roundRect">
            <a:avLst>
              <a:gd name="adj" fmla="val 218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6_0020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990292"/>
            <a:ext cx="5852160" cy="3086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63762"/>
            <a:ext cx="566928" cy="403013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63762"/>
            <a:ext cx="566928" cy="40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2036330"/>
            <a:ext cx="5120640" cy="1019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from orders where the Sales Amount is greater than the company's average Sales Amount?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3389295"/>
            <a:ext cx="6108192" cy="2818038"/>
          </a:xfrm>
          <a:prstGeom prst="roundRect">
            <a:avLst>
              <a:gd name="adj" fmla="val 259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6_002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17311"/>
            <a:ext cx="5852160" cy="25620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918646"/>
            <a:ext cx="566928" cy="414624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18646"/>
            <a:ext cx="566928" cy="414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891214"/>
            <a:ext cx="5120640" cy="104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from products whose Unit Price is greater than the average Unit Price of all products?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3209455"/>
            <a:ext cx="6108192" cy="3177718"/>
          </a:xfrm>
          <a:prstGeom prst="roundRect">
            <a:avLst>
              <a:gd name="adj" fmla="val 2302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6_0026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471"/>
            <a:ext cx="5852160" cy="29216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24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24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20815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came from completed orders where the discount percentage is greater than 20%?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52919"/>
            <a:ext cx="6108192" cy="3012095"/>
          </a:xfrm>
          <a:prstGeom prst="roundRect">
            <a:avLst>
              <a:gd name="adj" fmla="val 242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6_0027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0935"/>
            <a:ext cx="5852160" cy="27560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0275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0275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57532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came from customers who are either VIP OR Corporate?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357891"/>
            <a:ext cx="6108192" cy="2804795"/>
          </a:xfrm>
          <a:prstGeom prst="roundRect">
            <a:avLst>
              <a:gd name="adj" fmla="val 260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7_2343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485907"/>
            <a:ext cx="5852160" cy="25487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2217"/>
            <a:ext cx="566928" cy="426699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842217"/>
            <a:ext cx="566928" cy="42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814786"/>
            <a:ext cx="5120640" cy="67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came from orders that were NOT Cancelled?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620500"/>
            <a:ext cx="6108192" cy="2351052"/>
          </a:xfrm>
          <a:prstGeom prst="roundRect">
            <a:avLst>
              <a:gd name="adj" fmla="val 311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7_2348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48516"/>
            <a:ext cx="5852160" cy="20950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72280"/>
            <a:ext cx="566928" cy="390261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72280"/>
            <a:ext cx="566928" cy="390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644849"/>
            <a:ext cx="5120640" cy="6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came from Electronics products purchased by VIP customers?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392691"/>
            <a:ext cx="6108192" cy="2082476"/>
          </a:xfrm>
          <a:prstGeom prst="roundRect">
            <a:avLst>
              <a:gd name="adj" fmla="val 351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7_2358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20707"/>
            <a:ext cx="5852160" cy="1826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4221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4221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414782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the company's total revenue comes from each Category, regardless of the Category filter?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85786"/>
            <a:ext cx="6108192" cy="3048207"/>
          </a:xfrm>
          <a:prstGeom prst="roundRect">
            <a:avLst>
              <a:gd name="adj" fmla="val 240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003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3802"/>
            <a:ext cx="5852160" cy="27921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775905"/>
            <a:ext cx="566928" cy="419850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775905"/>
            <a:ext cx="566928" cy="41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748472"/>
            <a:ext cx="5120640" cy="66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Division's contribution as a percentage of the company's total revenue.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415294"/>
            <a:ext cx="6108192" cy="2865000"/>
          </a:xfrm>
          <a:prstGeom prst="roundRect">
            <a:avLst>
              <a:gd name="adj" fmla="val 255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0035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43310"/>
            <a:ext cx="5852160" cy="26089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3317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Logic DAX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SWITCH functions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742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742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399993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each order as "High Value" if its Sales Amount is greater than the company's average Sales Amount; otherwise, flag it as "Regular".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452018"/>
            <a:ext cx="6108192" cy="2631661"/>
          </a:xfrm>
          <a:prstGeom prst="roundRect">
            <a:avLst>
              <a:gd name="adj" fmla="val 278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7_230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0034"/>
            <a:ext cx="5852160" cy="23756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448735"/>
            <a:ext cx="566928" cy="388187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448735"/>
            <a:ext cx="566928" cy="388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421304"/>
            <a:ext cx="5120640" cy="98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order as "Delayed" if the Shipping Days (ShipDate - OrderDate) are greater than 5 days; otherwise, label it "On Time".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531204"/>
            <a:ext cx="6108192" cy="2694432"/>
          </a:xfrm>
          <a:prstGeom prst="roundRect">
            <a:avLst>
              <a:gd name="adj" fmla="val 271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7_230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659220"/>
            <a:ext cx="585216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4749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4749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420066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order as "High Discount" if DiscountPct is greater than the overall average discount; otherwise, label it "Normal Discount".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518388"/>
            <a:ext cx="6108192" cy="2675118"/>
          </a:xfrm>
          <a:prstGeom prst="roundRect">
            <a:avLst>
              <a:gd name="adj" fmla="val 273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7_2307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6404"/>
            <a:ext cx="5852160" cy="24190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164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164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65266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Age Group column using Customer Age.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128504"/>
            <a:ext cx="6108192" cy="3019175"/>
          </a:xfrm>
          <a:prstGeom prst="roundRect">
            <a:avLst>
              <a:gd name="adj" fmla="val 242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7_2312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256520"/>
            <a:ext cx="5852160" cy="27631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442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5442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26995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Product Price Band column using UnitPrice (Budget, Mid-Range, Premium, Luxury).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32710"/>
            <a:ext cx="6108192" cy="2712629"/>
          </a:xfrm>
          <a:prstGeom prst="roundRect">
            <a:avLst>
              <a:gd name="adj" fmla="val 269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7_231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0726"/>
            <a:ext cx="5852160" cy="24565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43355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43355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406118"/>
            <a:ext cx="5120640" cy="1028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Profitability Status column with "Loss", "Low Profit", "Medium Profit", and "High Profit" based on each order's Profit.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562316"/>
            <a:ext cx="6108192" cy="2582610"/>
          </a:xfrm>
          <a:prstGeom prst="roundRect">
            <a:avLst>
              <a:gd name="adj" fmla="val 2832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7_233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690332"/>
            <a:ext cx="5852160" cy="23265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3317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 DAX 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AVERAGEX, MAXX, MINX, COUNTX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669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18669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15926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revenue generated per product?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698762"/>
            <a:ext cx="6108192" cy="2487394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0056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6778"/>
            <a:ext cx="5852160" cy="22313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4239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E123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4239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3964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revenue generated per store?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935964"/>
            <a:ext cx="6108192" cy="2669294"/>
          </a:xfrm>
          <a:prstGeom prst="roundRect">
            <a:avLst>
              <a:gd name="adj" fmla="val 274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0058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63980"/>
            <a:ext cx="5852160" cy="24132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8461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8461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621028"/>
            <a:ext cx="5120640" cy="700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products generated revenue greater than the average product revenue?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449893"/>
            <a:ext cx="6108192" cy="3266220"/>
          </a:xfrm>
          <a:prstGeom prst="roundRect">
            <a:avLst>
              <a:gd name="adj" fmla="val 224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0131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7909"/>
            <a:ext cx="5852160" cy="30101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34739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E123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534739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5319962"/>
            <a:ext cx="5120640" cy="74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highest total revenue generated by any single customer?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6195128"/>
            <a:ext cx="6108192" cy="1577980"/>
          </a:xfrm>
          <a:prstGeom prst="roundRect">
            <a:avLst>
              <a:gd name="adj" fmla="val 463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0134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3144"/>
            <a:ext cx="5852160" cy="13219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645639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645639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2618207"/>
            <a:ext cx="5120640" cy="80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lowest total revenue generated by any single store?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3713282"/>
            <a:ext cx="6108192" cy="1877456"/>
          </a:xfrm>
          <a:prstGeom prst="roundRect">
            <a:avLst>
              <a:gd name="adj" fmla="val 389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013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1298"/>
            <a:ext cx="5852160" cy="16214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3317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Intelligence DAX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YTD, QTD, MTD, PY, DATEADD, Growth (%)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12273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12273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684840"/>
            <a:ext cx="5120640" cy="98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has the company generated from the beginning of the current year up to the selected date?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794738"/>
            <a:ext cx="6108192" cy="1494871"/>
          </a:xfrm>
          <a:prstGeom prst="roundRect">
            <a:avLst>
              <a:gd name="adj" fmla="val 489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0203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2754"/>
            <a:ext cx="5852160" cy="12388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00191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0019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962905"/>
            <a:ext cx="5120640" cy="89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Profit Margin from the beginning of the year up to the selected date?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930666"/>
            <a:ext cx="6108192" cy="2975390"/>
          </a:xfrm>
          <a:prstGeom prst="roundRect">
            <a:avLst>
              <a:gd name="adj" fmla="val 245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0211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58682"/>
            <a:ext cx="5852160" cy="27193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482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84482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817395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during the same period last year?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727276"/>
            <a:ext cx="6108192" cy="2006116"/>
          </a:xfrm>
          <a:prstGeom prst="roundRect">
            <a:avLst>
              <a:gd name="adj" fmla="val 364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02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5292"/>
            <a:ext cx="5852160" cy="17500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309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309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603468"/>
            <a:ext cx="5120640" cy="7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in the previous month?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582799"/>
            <a:ext cx="6108192" cy="1866617"/>
          </a:xfrm>
          <a:prstGeom prst="roundRect">
            <a:avLst>
              <a:gd name="adj" fmla="val 391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034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710815"/>
            <a:ext cx="5852160" cy="16105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8461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8461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981029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was generated in the previous fiscal year?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752020"/>
            <a:ext cx="6108192" cy="2250222"/>
          </a:xfrm>
          <a:prstGeom prst="roundRect">
            <a:avLst>
              <a:gd name="adj" fmla="val 325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054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036"/>
            <a:ext cx="5852160" cy="19941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451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451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617667"/>
            <a:ext cx="5120640" cy="799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revenue from the same date range shifted back by one month.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597000"/>
            <a:ext cx="6108192" cy="1503585"/>
          </a:xfrm>
          <a:prstGeom prst="roundRect">
            <a:avLst>
              <a:gd name="adj" fmla="val 486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05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725016"/>
            <a:ext cx="5852160" cy="124755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980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98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762376"/>
            <a:ext cx="5120640" cy="68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revenue for the last 90 days ending on the selected date.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579666"/>
            <a:ext cx="6108192" cy="2378244"/>
          </a:xfrm>
          <a:prstGeom prst="roundRect">
            <a:avLst>
              <a:gd name="adj" fmla="val 307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104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7682"/>
            <a:ext cx="5852160" cy="21222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35769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35769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330264"/>
            <a:ext cx="5120640" cy="82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profit generated during the last 6 months ending on the selected date.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170703"/>
            <a:ext cx="6108192" cy="2623100"/>
          </a:xfrm>
          <a:prstGeom prst="roundRect">
            <a:avLst>
              <a:gd name="adj" fmla="val 278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106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298719"/>
            <a:ext cx="5852160" cy="23670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9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9439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66965"/>
            <a:ext cx="5120640" cy="70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quantity sold during the last 30 days.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95831"/>
            <a:ext cx="6108192" cy="2981168"/>
          </a:xfrm>
          <a:prstGeom prst="roundRect">
            <a:avLst>
              <a:gd name="adj" fmla="val 245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10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3847"/>
            <a:ext cx="5852160" cy="2725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1474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1474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587309"/>
            <a:ext cx="5120640" cy="72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revenue generated during the last 12 months.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439323"/>
            <a:ext cx="6108192" cy="2781383"/>
          </a:xfrm>
          <a:prstGeom prst="roundRect">
            <a:avLst>
              <a:gd name="adj" fmla="val 263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112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67339"/>
            <a:ext cx="5852160" cy="252535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28863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128863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101430"/>
            <a:ext cx="5120640" cy="106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has the company generated from the beginning of the current month up to the selected date?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08097"/>
            <a:ext cx="6108192" cy="1650645"/>
          </a:xfrm>
          <a:prstGeom prst="roundRect">
            <a:avLst>
              <a:gd name="adj" fmla="val 4432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153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36113"/>
            <a:ext cx="5852160" cy="13946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51640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51640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48897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Month-to-Date (MTD) Profit.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121068"/>
            <a:ext cx="6108192" cy="2379982"/>
          </a:xfrm>
          <a:prstGeom prst="roundRect">
            <a:avLst>
              <a:gd name="adj" fmla="val 3074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156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249084"/>
            <a:ext cx="5852160" cy="2123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373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373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336305"/>
            <a:ext cx="5120640" cy="92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has the company generated from the beginning of the current quarter up to the selected date?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388331"/>
            <a:ext cx="6108192" cy="1667283"/>
          </a:xfrm>
          <a:prstGeom prst="roundRect">
            <a:avLst>
              <a:gd name="adj" fmla="val 438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157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6347"/>
            <a:ext cx="5852160" cy="14112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37437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37437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34694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Quarter-to-Date (QTD) Quantity Sold.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3886439"/>
            <a:ext cx="6108192" cy="2007872"/>
          </a:xfrm>
          <a:prstGeom prst="roundRect">
            <a:avLst>
              <a:gd name="adj" fmla="val 3643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159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14455"/>
            <a:ext cx="5852160" cy="175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6189929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6189929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Q59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6162496"/>
            <a:ext cx="5120640" cy="58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profit generated since the beginning of the current year.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875616"/>
            <a:ext cx="6108192" cy="1460003"/>
          </a:xfrm>
          <a:prstGeom prst="roundRect">
            <a:avLst>
              <a:gd name="adj" fmla="val 501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8_1202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7003632"/>
            <a:ext cx="5852160" cy="12039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668463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68463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641031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company's Profit Margin (%) from the beginning of the current year up to the selected date?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73135"/>
            <a:ext cx="6108192" cy="1629759"/>
          </a:xfrm>
          <a:prstGeom prst="roundRect">
            <a:avLst>
              <a:gd name="adj" fmla="val 448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205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01151"/>
            <a:ext cx="5852160" cy="13737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56055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56055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4533125"/>
            <a:ext cx="5120640" cy="7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did it take to ship each order from the Order Date to the Ship Date?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5431437"/>
            <a:ext cx="6108192" cy="1830952"/>
          </a:xfrm>
          <a:prstGeom prst="roundRect">
            <a:avLst>
              <a:gd name="adj" fmla="val 399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209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59453"/>
            <a:ext cx="5852160" cy="15749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409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409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53666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took more than 5 days to ship?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1076159"/>
            <a:ext cx="6108192" cy="2159503"/>
          </a:xfrm>
          <a:prstGeom prst="roundRect">
            <a:avLst>
              <a:gd name="adj" fmla="val 338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21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4175"/>
            <a:ext cx="5852160" cy="19034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58915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58915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3561721"/>
            <a:ext cx="5120640" cy="65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calculated column that returns the month-end date for each Order Date.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4904" y="4355863"/>
            <a:ext cx="6108192" cy="1071402"/>
          </a:xfrm>
          <a:prstGeom prst="roundRect">
            <a:avLst>
              <a:gd name="adj" fmla="val 682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1" name="Image 1" descr="/mnt/user-data/uploads/Screenshot_2026-07-28_1231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83879"/>
            <a:ext cx="5852160" cy="81537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85019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585019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Q64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5822765"/>
            <a:ext cx="5120640" cy="59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average number of days between Order Date and Ship Date.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74904" y="6547459"/>
            <a:ext cx="6108192" cy="1518354"/>
          </a:xfrm>
          <a:prstGeom prst="roundRect">
            <a:avLst>
              <a:gd name="adj" fmla="val 481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16" name="Image 2" descr="/mnt/user-data/uploads/Screenshot_2026-07-28_1232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675475"/>
            <a:ext cx="5852160" cy="126232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204437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04437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2177004"/>
            <a:ext cx="5120640" cy="63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Month-over-Month (MoM) Revenue Growth (%) compared to the previous month?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3133190"/>
            <a:ext cx="6108192" cy="3037641"/>
          </a:xfrm>
          <a:prstGeom prst="roundRect">
            <a:avLst>
              <a:gd name="adj" fmla="val 240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0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61206"/>
            <a:ext cx="5852160" cy="278160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60200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0200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574573"/>
            <a:ext cx="5120640" cy="7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Month-over-Month (MoM) Profit Growth (%).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72885"/>
            <a:ext cx="6108192" cy="4358250"/>
          </a:xfrm>
          <a:prstGeom prst="roundRect">
            <a:avLst>
              <a:gd name="adj" fmla="val 1678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00901"/>
            <a:ext cx="5852160" cy="41022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3048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304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703051"/>
            <a:ext cx="5120640" cy="85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Quarter-over-Quarter (QoQ) Revenue Growth (%).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682385"/>
            <a:ext cx="6108192" cy="3939249"/>
          </a:xfrm>
          <a:prstGeom prst="roundRect">
            <a:avLst>
              <a:gd name="adj" fmla="val 1857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1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10401"/>
            <a:ext cx="5852160" cy="36832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3973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3973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712301"/>
            <a:ext cx="5120640" cy="65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Year-over-Year (YoY) Revenue Growth (%).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94869"/>
            <a:ext cx="6108192" cy="4314282"/>
          </a:xfrm>
          <a:prstGeom prst="roundRect">
            <a:avLst>
              <a:gd name="adj" fmla="val 1696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17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22885"/>
            <a:ext cx="5852160" cy="40582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65395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65395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793663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Year-over-Year (YoY) Profit Growth (%).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62655"/>
            <a:ext cx="6108192" cy="4378710"/>
          </a:xfrm>
          <a:prstGeom prst="roundRect">
            <a:avLst>
              <a:gd name="adj" fmla="val 1671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1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90671"/>
            <a:ext cx="5852160" cy="412267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1802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8027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2152840"/>
            <a:ext cx="5120640" cy="694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current MTD Revenue against the MTD Revenue from the same period last year.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3109025"/>
            <a:ext cx="6108192" cy="3085969"/>
          </a:xfrm>
          <a:prstGeom prst="roundRect">
            <a:avLst>
              <a:gd name="adj" fmla="val 2370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29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37041"/>
            <a:ext cx="5852160" cy="282993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2269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2269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74098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QTD Profit against the same period last year.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419957"/>
            <a:ext cx="6108192" cy="4464107"/>
          </a:xfrm>
          <a:prstGeom prst="roundRect">
            <a:avLst>
              <a:gd name="adj" fmla="val 1639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3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47973"/>
            <a:ext cx="5852160" cy="42080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94789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D4E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4789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34440" y="1920466"/>
            <a:ext cx="5120640" cy="66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YTD Revenue Growth (%) compared with the same period last year.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" y="2818778"/>
            <a:ext cx="6108192" cy="3666463"/>
          </a:xfrm>
          <a:prstGeom prst="roundRect">
            <a:avLst>
              <a:gd name="adj" fmla="val 1995"/>
            </a:avLst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2B1">
                <a:alpha val="25000"/>
              </a:srgbClr>
            </a:outerShdw>
          </a:effectLst>
        </p:spPr>
      </p:sp>
      <p:pic>
        <p:nvPicPr>
          <p:cNvPr id="6" name="Image 0" descr="/mnt/user-data/uploads/Screenshot_2026-07-28_1338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46794"/>
            <a:ext cx="5852160" cy="3410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1139</Words>
  <Application>Microsoft Office PowerPoint</Application>
  <PresentationFormat>Custom</PresentationFormat>
  <Paragraphs>202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Srabosthy Das Prama</cp:lastModifiedBy>
  <cp:revision>4</cp:revision>
  <dcterms:created xsi:type="dcterms:W3CDTF">2026-07-28T07:51:08Z</dcterms:created>
  <dcterms:modified xsi:type="dcterms:W3CDTF">2026-07-28T08:51:10Z</dcterms:modified>
</cp:coreProperties>
</file>