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2368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-2377440"/>
            <a:ext cx="5669280" cy="5669280"/>
          </a:xfrm>
          <a:prstGeom prst="ellipse">
            <a:avLst/>
          </a:prstGeom>
          <a:ln w="15875">
            <a:solidFill>
              <a:srgbClr val="1F6F5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42435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CASE STUDY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37198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7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Duplicates. Blanks. No Structure.</a:t>
            </a:r>
            <a:endParaRPr lang="en-US" sz="3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7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Power Query Fix This?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822960" y="4434840"/>
            <a:ext cx="6309360" cy="864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C7C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transformation of a raw HR export into a clean, analysis-ready dataset - built entirely in Power Query.</a:t>
            </a:r>
            <a:endParaRPr lang="en-US" sz="1600" dirty="0"/>
          </a:p>
        </p:txBody>
      </p:sp>
      <p:pic>
        <p:nvPicPr>
          <p:cNvPr id="8" name="Image 0" descr="icons/mascot_confu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312" y="2148840"/>
            <a:ext cx="4165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Flawed HR Export, Seven Fixes to Make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457200"/>
            <a:ext cx="685800" cy="685800"/>
          </a:xfrm>
          <a:prstGeom prst="ellipse">
            <a:avLst/>
          </a:prstGeom>
          <a:solidFill>
            <a:srgbClr val="1F6F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514" y="546354"/>
            <a:ext cx="507492" cy="5074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002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HR team's source file tracks six fields per employee - Full Name, Email, Gender, Salary, Department and Hire Date. Before it can support any analysis, the raw export needs deliberate, structured cleanup.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715768"/>
            <a:ext cx="310896" cy="310896"/>
          </a:xfrm>
          <a:prstGeom prst="ellipse">
            <a:avLst/>
          </a:prstGeom>
          <a:solidFill>
            <a:srgbClr val="1F6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2741799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rows and columns irrelevant to analysis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611880"/>
            <a:ext cx="310896" cy="310896"/>
          </a:xfrm>
          <a:prstGeom prst="ellipse">
            <a:avLst/>
          </a:prstGeom>
          <a:solidFill>
            <a:srgbClr val="1F6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97280" y="363893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the first row to column headers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4507992"/>
            <a:ext cx="310896" cy="310896"/>
          </a:xfrm>
          <a:prstGeom prst="ellipse">
            <a:avLst/>
          </a:prstGeom>
          <a:solidFill>
            <a:srgbClr val="1F6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4507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7280" y="454018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and blank records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5404104"/>
            <a:ext cx="310896" cy="310896"/>
          </a:xfrm>
          <a:prstGeom prst="ellipse">
            <a:avLst/>
          </a:prstGeom>
          <a:solidFill>
            <a:srgbClr val="1F6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0080" y="5404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7280" y="544142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empty Email cells with “No Email”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715768"/>
            <a:ext cx="310896" cy="310896"/>
          </a:xfrm>
          <a:prstGeom prst="ellipse">
            <a:avLst/>
          </a:prstGeom>
          <a:solidFill>
            <a:srgbClr val="1F6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172200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629400" y="2741799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Full Name into First and Last Name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6172200" y="3611880"/>
            <a:ext cx="310896" cy="310896"/>
          </a:xfrm>
          <a:prstGeom prst="ellipse">
            <a:avLst/>
          </a:prstGeom>
          <a:solidFill>
            <a:srgbClr val="1F6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17220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629400" y="3639873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dataset by Hire Date, ascending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172200" y="4507992"/>
            <a:ext cx="310896" cy="310896"/>
          </a:xfrm>
          <a:prstGeom prst="ellipse">
            <a:avLst/>
          </a:prstGeom>
          <a:solidFill>
            <a:srgbClr val="1F6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172200" y="4507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629400" y="4554647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an Employee ID column and move it to the front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6933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 · DIAGNOSE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Fixing Anything, the Data Was Audited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457200"/>
            <a:ext cx="685800" cy="685800"/>
          </a:xfrm>
          <a:prstGeom prst="ellipse">
            <a:avLst/>
          </a:prstGeom>
          <a:solidFill>
            <a:srgbClr val="1F6F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514" y="546354"/>
            <a:ext cx="507492" cy="5074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459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file was imported directly from a CSV export, with no header row promoted and no formatting applied. A column-by-column quality check surfaced exactly what needed attention.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651760"/>
            <a:ext cx="10607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3032083"/>
            <a:ext cx="3291840" cy="38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4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fully empty columns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343400" y="3032083"/>
            <a:ext cx="6675120" cy="38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Column7 and Column8 carried 100% empty values - leftover artefacts with no analytical value.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794760"/>
            <a:ext cx="10607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14400" y="4175077"/>
            <a:ext cx="3291840" cy="359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4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completeness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343400" y="4175077"/>
            <a:ext cx="6675120" cy="359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fields ranged from 72% to 77% valid, with the rest split between blanks and duplicates.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4937760"/>
            <a:ext cx="10607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4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5252767"/>
            <a:ext cx="3291840" cy="38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4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usable header row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343400" y="5252767"/>
            <a:ext cx="6675120" cy="38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appeared as generic Column1-Column8 rather than named, typed attributes.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5394" y="4160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 · DIAGNOSE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Raw Import, Straight From Source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8314" y="1488262"/>
            <a:ext cx="9453408" cy="4773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4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ages/Messy_data_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473" y="1625421"/>
            <a:ext cx="9161053" cy="44827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4338" y="6398589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Csv.Document(File.Contents(...)) - unfiltered source connection inside Power Query.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5394" y="429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 · DIAGNOSE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Column-Level Quality Check, Pre-Cleanup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68196" y="1532078"/>
            <a:ext cx="9052560" cy="2379877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5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ages/Col-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356" y="1669238"/>
            <a:ext cx="8778240" cy="210555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68196" y="4065923"/>
            <a:ext cx="9052560" cy="251511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5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images/Col-quality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356" y="4203083"/>
            <a:ext cx="8778240" cy="22407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994" y="460559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 · STRUCTURE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Clearing the Structural Noise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457200"/>
            <a:ext cx="685800" cy="685800"/>
          </a:xfrm>
          <a:prstGeom prst="ellipse">
            <a:avLst/>
          </a:prstGeom>
          <a:solidFill>
            <a:srgbClr val="1F6F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514" y="546354"/>
            <a:ext cx="507492" cy="5074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69246"/>
            <a:ext cx="7863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the top row that held no usable data before the true header row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the first data row to serve as proper column headers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Column7 and Column8 entirely - both were 100% empty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blank rows so every remaining record carries real employee data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entries to keep the dataset free of repeated records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869680" y="1691640"/>
            <a:ext cx="2651760" cy="3931920"/>
          </a:xfrm>
          <a:prstGeom prst="rect">
            <a:avLst/>
          </a:prstGeom>
          <a:solidFill>
            <a:srgbClr val="1F6F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869680" y="19659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05256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columns removed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235440" y="3383280"/>
            <a:ext cx="1920240" cy="0"/>
          </a:xfrm>
          <a:prstGeom prst="line">
            <a:avLst/>
          </a:prstGeom>
          <a:noFill/>
          <a:ln w="12700">
            <a:solidFill>
              <a:srgbClr val="C9A22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869680" y="3566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496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9052560" y="4297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records retained</a:t>
            </a:r>
            <a:endParaRPr lang="en-US" sz="1200" dirty="0"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FF515E7D-C9B4-27B5-EB4B-A490C1565FDD}"/>
              </a:ext>
            </a:extLst>
          </p:cNvPr>
          <p:cNvSpPr/>
          <p:nvPr/>
        </p:nvSpPr>
        <p:spPr>
          <a:xfrm>
            <a:off x="-1820201" y="4594393"/>
            <a:ext cx="5669280" cy="5669280"/>
          </a:xfrm>
          <a:prstGeom prst="ellipse">
            <a:avLst/>
          </a:prstGeom>
          <a:ln w="15875">
            <a:solidFill>
              <a:srgbClr val="1F6F5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994" y="4517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 · STANDARDIZE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Giving Every Blank Cell a Clear Meaning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457200"/>
            <a:ext cx="685800" cy="685800"/>
          </a:xfrm>
          <a:prstGeom prst="ellipse">
            <a:avLst/>
          </a:prstGeom>
          <a:solidFill>
            <a:srgbClr val="1F6F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ex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514" y="546354"/>
            <a:ext cx="507492" cy="5074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91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cells are ambiguous - they don't tell you whether data is missing, unknown, or simply not collected. Two targeted Replace Values steps removed that ambiguity for the fields that needed it most.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697480"/>
            <a:ext cx="51206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4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05840" y="3017520"/>
            <a:ext cx="640080" cy="640080"/>
          </a:xfrm>
          <a:prstGeom prst="ellipse">
            <a:avLst/>
          </a:prstGeom>
          <a:solidFill>
            <a:srgbClr val="1F6F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envelo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050" y="3100730"/>
            <a:ext cx="473659" cy="4736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37947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Email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005840" y="42245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 →  “No Email”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05840" y="466344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every row analysis-ready without inventing an address.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126480" y="2697480"/>
            <a:ext cx="51206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4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492240" y="3017520"/>
            <a:ext cx="640080" cy="640080"/>
          </a:xfrm>
          <a:prstGeom prst="ellipse">
            <a:avLst/>
          </a:prstGeom>
          <a:solidFill>
            <a:srgbClr val="1F6F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s/coi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450" y="3100730"/>
            <a:ext cx="473659" cy="47365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92240" y="37947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Salary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492240" y="42245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4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 →  0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92240" y="466344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numeric integrity so Salary stays aggregatable.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5395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 · STANDARDIZE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Values - Email Column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25396" y="1554480"/>
            <a:ext cx="8138160" cy="363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4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ages/Replace_blank_with_No_E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556" y="1691640"/>
            <a:ext cx="7863840" cy="336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to find left blank, Replace With set to “No Email” - </a:t>
            </a:r>
            <a:r>
              <a:rPr lang="en-US" sz="1200" i="1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r>
              <a:rPr lang="en-US" sz="1150" i="1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Email column only.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6717" y="47091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 · STANDARDIZE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Values - Salary Column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25396" y="1554480"/>
            <a:ext cx="8138160" cy="3268351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4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ages/Replace_null_with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556" y="1691640"/>
            <a:ext cx="7863840" cy="29940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 in Salary were replaced with 0, keeping the field numeric and </a:t>
            </a:r>
            <a:r>
              <a:rPr lang="en-US" sz="1200" i="1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chart-ready</a:t>
            </a:r>
            <a:r>
              <a:rPr lang="en-US" sz="1150" i="1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994" y="38633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 · RESTRUCTURE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Name Field Isn't Enough for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457200"/>
            <a:ext cx="685800" cy="685800"/>
          </a:xfrm>
          <a:prstGeom prst="ellipse">
            <a:avLst/>
          </a:prstGeom>
          <a:solidFill>
            <a:srgbClr val="1F6F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c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514" y="546354"/>
            <a:ext cx="507492" cy="5074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91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Full Name column blocks first-name and last-name level reporting. Splitting it by delimiter unlocks that granularity - the level of detail a dataset can be broken down to.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833147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the Space delimiter, at the left-most occurrence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two clean fields: Employee First Name and Employee Last Name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columns renamed and type-checked immediately after the split</a:t>
            </a:r>
            <a:endParaRPr lang="en-US" sz="1450" dirty="0"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43CBBF47-28D0-B2AA-E77D-95C1F67F0752}"/>
              </a:ext>
            </a:extLst>
          </p:cNvPr>
          <p:cNvSpPr/>
          <p:nvPr/>
        </p:nvSpPr>
        <p:spPr>
          <a:xfrm>
            <a:off x="8389620" y="3927348"/>
            <a:ext cx="5669280" cy="5669280"/>
          </a:xfrm>
          <a:prstGeom prst="ellipse">
            <a:avLst/>
          </a:prstGeom>
          <a:ln w="15875">
            <a:solidFill>
              <a:srgbClr val="1F6F5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6989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 · RESTRUCTURE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Column by Delimiter - Full Name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849490" y="1463040"/>
            <a:ext cx="6489973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4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ages/Split_Emp_Col_by_Delimi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650" y="1600200"/>
            <a:ext cx="6215653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Delimiter: Space  ·  Split at: Left-most delimiter - separates first name from the remainder.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9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 · ORDER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Tenure in 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457200"/>
            <a:ext cx="685800" cy="685800"/>
          </a:xfrm>
          <a:prstGeom prst="ellipse">
            <a:avLst/>
          </a:prstGeom>
          <a:solidFill>
            <a:srgbClr val="1F6F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s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514" y="546354"/>
            <a:ext cx="507492" cy="5074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20240"/>
            <a:ext cx="6492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5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names, emails and salaries standardized, the dataset was sorted by Hire Date in ascending order - surfacing the longest-tenured employees first and giving any downstream timeline analysis a reliable starting point.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498080" y="1691640"/>
            <a:ext cx="4023360" cy="3931920"/>
          </a:xfrm>
          <a:prstGeom prst="rect">
            <a:avLst/>
          </a:prstGeom>
          <a:solidFill>
            <a:srgbClr val="2228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81812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Hire Date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18120" y="25603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→ Z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818120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Ascending, oldest hire date first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818120" y="4023360"/>
            <a:ext cx="3108960" cy="0"/>
          </a:xfrm>
          <a:prstGeom prst="line">
            <a:avLst/>
          </a:prstGeom>
          <a:noFill/>
          <a:ln w="12700">
            <a:solidFill>
              <a:srgbClr val="C9A22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818120" y="42062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distinct hire dates spanning the full workforce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 · ENRICH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a Unique Employee 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457200"/>
            <a:ext cx="685800" cy="685800"/>
          </a:xfrm>
          <a:prstGeom prst="ellipse">
            <a:avLst/>
          </a:prstGeom>
          <a:solidFill>
            <a:srgbClr val="1F6F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id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514" y="546354"/>
            <a:ext cx="507492" cy="5074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459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had no unique identifier, so one was built in two stages: a sequential index, then a formatted ID derived from it.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5120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4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05840" y="283464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058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9164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Index Column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05840" y="3566160"/>
            <a:ext cx="4434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index 1, increment 1 - one sequential number per row.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26480" y="2514600"/>
            <a:ext cx="5120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4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492240" y="283464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922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2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17804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Custom Column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92240" y="3566160"/>
            <a:ext cx="4434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"EM" &amp; Text.PadStart(Text.From([Index]), 2, "0") - builds an EM-prefixed, zero-padded ID.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731" y="4526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 · ENRICH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Index Column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25396" y="1554480"/>
            <a:ext cx="8138160" cy="3506035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4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ages/Add_index_colum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556" y="1691640"/>
            <a:ext cx="7863840" cy="32317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Index: 1  ·  </a:t>
            </a:r>
            <a:r>
              <a:rPr lang="en-US" sz="1200" i="1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</a:t>
            </a:r>
            <a:r>
              <a:rPr lang="en-US" sz="1150" i="1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1 - the foundation for the Employee ID formula.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 · ENRICH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Column - Employee ID Formula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531743" y="1463040"/>
            <a:ext cx="7125466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4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ages/Add_custom_column_for_Emp-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903" y="1600200"/>
            <a:ext cx="6851146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3796" y="622781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“EM” + zero-padded index → consistent, sortable IDs such as EM01, EM02 ...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994" y="4700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07 · FINALIZE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Out the Transformation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457200"/>
            <a:ext cx="685800" cy="685800"/>
          </a:xfrm>
          <a:prstGeom prst="ellipse">
            <a:avLst/>
          </a:prstGeom>
          <a:solidFill>
            <a:srgbClr val="1F6F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layer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514" y="546354"/>
            <a:ext cx="507492" cy="5074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994" y="1914641"/>
            <a:ext cx="10424160" cy="1929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▪"/>
            </a:pPr>
            <a:r>
              <a:rPr lang="en-US" sz="155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Employee ID to the correct data type immediately after creation</a:t>
            </a:r>
            <a:endParaRPr lang="en-US" sz="1550" dirty="0"/>
          </a:p>
          <a:p>
            <a:pPr marL="342900" indent="-342900">
              <a:spcAft>
                <a:spcPts val="1800"/>
              </a:spcAft>
              <a:buSzPct val="100000"/>
              <a:buChar char="▪"/>
            </a:pPr>
            <a:r>
              <a:rPr lang="en-US" sz="155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Employee ID to the very first position in the dataset</a:t>
            </a:r>
            <a:endParaRPr lang="en-US" sz="1550" dirty="0"/>
          </a:p>
          <a:p>
            <a:pPr marL="342900" indent="-342900">
              <a:spcAft>
                <a:spcPts val="1800"/>
              </a:spcAft>
              <a:buSzPct val="100000"/>
              <a:buChar char="▪"/>
            </a:pPr>
            <a:r>
              <a:rPr lang="en-US" sz="155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Salary's column type after all replacements were applied</a:t>
            </a:r>
            <a:endParaRPr lang="en-US" sz="1550" dirty="0"/>
          </a:p>
          <a:p>
            <a:pPr marL="342900" indent="-342900">
              <a:spcAft>
                <a:spcPts val="1800"/>
              </a:spcAft>
              <a:buSzPct val="100000"/>
              <a:buChar char="▪"/>
            </a:pPr>
            <a:r>
              <a:rPr lang="en-US" sz="155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the helper Index column - its job was done once the ID existed</a:t>
            </a:r>
            <a:endParaRPr lang="en-US" sz="1550" dirty="0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9B684BF8-7C6C-E77C-5D47-9048093B8AA5}"/>
              </a:ext>
            </a:extLst>
          </p:cNvPr>
          <p:cNvSpPr/>
          <p:nvPr/>
        </p:nvSpPr>
        <p:spPr>
          <a:xfrm>
            <a:off x="9018239" y="3936819"/>
            <a:ext cx="5669280" cy="5669280"/>
          </a:xfrm>
          <a:prstGeom prst="ellipse">
            <a:avLst/>
          </a:prstGeom>
          <a:ln w="15875">
            <a:solidFill>
              <a:srgbClr val="1F6F5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2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PIPELINE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Applied Step, in Order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1" y="1490471"/>
            <a:ext cx="2496499" cy="5051039"/>
          </a:xfrm>
          <a:prstGeom prst="rect">
            <a:avLst/>
          </a:prstGeom>
          <a:solidFill>
            <a:srgbClr val="FFFFFF"/>
          </a:solidFill>
          <a:ln w="12700">
            <a:solidFill>
              <a:srgbClr val="3A4245"/>
            </a:solidFill>
            <a:prstDash val="solid"/>
          </a:ln>
          <a:effectLst>
            <a:outerShdw blurRad="1524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ages/Applied_st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1600200"/>
            <a:ext cx="2229433" cy="48261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04489" y="2082973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24529" y="1945813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&amp; Structure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124529" y="2311573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E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type detection, header promotion, column removal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804489" y="3180253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124529" y="3043093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124529" y="3408853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E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row removal, Email and Salary replacements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804489" y="4277533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124529" y="4140373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124529" y="4506133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E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split, type fixes, sort by Hire Date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804489" y="5374813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124529" y="5237653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Enrichment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124529" y="5603413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E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Index, Employee ID formula, ID repositioning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70" y="4526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08 · VALIDATE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the Dataset Is Analysis-Ready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457200"/>
            <a:ext cx="685800" cy="685800"/>
          </a:xfrm>
          <a:prstGeom prst="ellipse">
            <a:avLst/>
          </a:prstGeom>
          <a:solidFill>
            <a:srgbClr val="1F6F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clipboard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514" y="546354"/>
            <a:ext cx="507492" cy="5074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91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6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column-quality check used to diagnose the raw file was run again after every step. Every field now returns 100% valid, 0% error and 0% empty - the dataset is ready to move into Power BI.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743200"/>
            <a:ext cx="3291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4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29718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4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496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employee records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2743200"/>
            <a:ext cx="3291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4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297680" y="29718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4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4480560" y="3977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typed columns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55280" y="2743200"/>
            <a:ext cx="3291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4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955280" y="29718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4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8138160" y="3977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across every field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08 · VALIDATE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 Quality Check, Post-Cleanup</a:t>
            </a:r>
            <a:endParaRPr lang="en-US" sz="3000" dirty="0"/>
          </a:p>
        </p:txBody>
      </p:sp>
      <p:pic>
        <p:nvPicPr>
          <p:cNvPr id="5" name="Image 0" descr="images/After_Clea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356" y="1449292"/>
            <a:ext cx="8778240" cy="1679386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7" name="Image 1" descr="images/After_clean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356" y="3339457"/>
            <a:ext cx="8778240" cy="3007227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8" name="Text 4"/>
          <p:cNvSpPr/>
          <p:nvPr/>
        </p:nvSpPr>
        <p:spPr>
          <a:xfrm>
            <a:off x="640080" y="6428793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- Employee ID through Hire Date - now reads 100% Valid.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1013</Words>
  <Application>Microsoft Office PowerPoint</Application>
  <PresentationFormat>Widescreen</PresentationFormat>
  <Paragraphs>139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Dataset Transformation — Power Query Case Study</dc:title>
  <dc:subject>PptxGenJS Presentation</dc:subject>
  <dc:creator>Srabo</dc:creator>
  <cp:lastModifiedBy>Srabosthy Das Prama</cp:lastModifiedBy>
  <cp:revision>3</cp:revision>
  <dcterms:created xsi:type="dcterms:W3CDTF">2026-07-04T04:38:22Z</dcterms:created>
  <dcterms:modified xsi:type="dcterms:W3CDTF">2026-07-28T19:12:15Z</dcterms:modified>
</cp:coreProperties>
</file>