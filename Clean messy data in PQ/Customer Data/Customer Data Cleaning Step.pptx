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4T09:15:33.7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 24575,'200'-2'0,"211"5"0,-390-2 0,0 2 0,1 0 0,-1 2 0,-1 0 0,1 1 0,38 18 0,108 70 0,-105-56 0,281 191 0,-309-206 0,3 1 0,40 19 0,-49-30 0,-1 2 0,-1 2 0,48 37 0,-32-16 0,-6-7 0,-2 1 0,59 72 0,-5 31 0,-77-116 0,-2 0 0,-1 0 0,0 1 0,-1 0 0,6 34 0,-3-12 0,1-1 0,19 46 0,-18-57 0,-2 1 0,0 0 0,-2 0 0,-2 1 0,5 44 0,-12 86 0,-1-85 0,13 126 0,2-93-1365,-10-82-5461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4T09:15:55.0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83 24575,'-1'0'0,"1"0"0,-1 0 0,1 0 0,0 0 0,-1 0 0,1 0 0,-1 0 0,1 0 0,0 0 0,-1 0 0,1 0 0,-1 1 0,1-1 0,0 0 0,-1 0 0,1 0 0,0 0 0,-1 1 0,1-1 0,0 0 0,-1 0 0,1 1 0,0-1 0,-1 0 0,1 0 0,0 1 0,0-1 0,-1 0 0,1 1 0,0-1 0,0 1 0,0-1 0,-1 0 0,1 1 0,0-1 0,0 0 0,0 1 0,0-1 0,0 1 0,0-1 0,0 0 0,0 1 0,0-1 0,0 1 0,0-1 0,0 0 0,0 1 0,0-1 0,1 1 0,-1-1 0,0 0 0,0 1 0,0-1 0,0 0 0,1 1 0,-1-1 0,1 1 0,15 20 0,43 18 0,89 44 0,-123-68 0,-1 1 0,0 1 0,-1 1 0,-1 1 0,-1 1 0,-1 1 0,0 1 0,-2 0 0,17 29 0,-24-28 0,-9-18 0,0 1 0,0-1 0,1 0 0,-1 0 0,7 8 0,-8-12 0,0-1 0,-1 1 0,1-1 0,0 1 0,-1-1 0,1 1 0,0-1 0,0 1 0,-1-1 0,1 0 0,0 0 0,0 1 0,0-1 0,-1 0 0,1 0 0,0 0 0,0 0 0,0 0 0,0 0 0,0 0 0,-1 0 0,1 0 0,0 0 0,0 0 0,0-1 0,0 1 0,-1 0 0,1-1 0,0 1 0,0 0 0,-1-1 0,1 1 0,0-1 0,-1 1 0,1-1 0,0 0 0,-1 1 0,1-1 0,-1 0 0,1 1 0,-1-1 0,1 0 0,0 0 0,3-6 0,1 1 0,-1-1 0,0 0 0,-1 0 0,0-1 0,0 1 0,3-11 0,-3 7 0,1 1 0,0 0 0,8-14 0,32-52 0,-18 31 0,31-42 0,-47 74 0,0 0 0,1 1 0,0 1 0,1 0 0,1 0 0,-1 1 0,22-12 0,71-49-1213,-103 69 1061,17-12-6674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323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customXml" Target="../ink/ink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80000">
            <a:off x="9052560" y="-2194560"/>
            <a:ext cx="6766560" cy="11247120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780000">
            <a:off x="10561320" y="-2194560"/>
            <a:ext cx="6766560" cy="11247120"/>
          </a:xfrm>
          <a:prstGeom prst="rect">
            <a:avLst/>
          </a:prstGeom>
          <a:solidFill>
            <a:srgbClr val="8F44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2700000">
            <a:off x="10835640" y="777240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71112" y="3357994"/>
            <a:ext cx="2606040" cy="2606040"/>
          </a:xfrm>
          <a:prstGeom prst="roundRect">
            <a:avLst>
              <a:gd name="adj" fmla="val 6316"/>
            </a:avLst>
          </a:prstGeom>
          <a:solidFill>
            <a:srgbClr val="F3EC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685" y="3588499"/>
            <a:ext cx="2240280" cy="2240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98805" y="6194539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3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Mood: messy data.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B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POWER QUERY EDITOR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1234440"/>
            <a:ext cx="8778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3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Fix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3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This Messy?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22960" y="320040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D8C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null rows, six merged fields, and no usable headers. Meet Power Query - nine deliberate steps that turn this panic into a clean, sortable table.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4709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B5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2960" y="5321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BD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STEPS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880360" y="4709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B5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2880360" y="5321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BD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COLUMNS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0" y="4709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B5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937760" y="5321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BD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ROWS REMAINING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D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37033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Transformation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742" y="10370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sequential Power Query steps turn a messy spreadsheet import into a validated, sortable, reporting-ready table.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57479"/>
            <a:ext cx="3310128" cy="1417320"/>
          </a:xfrm>
          <a:prstGeom prst="roundRect">
            <a:avLst>
              <a:gd name="adj" fmla="val 4516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1858647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59231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 rot="2700000">
            <a:off x="3593592" y="1886079"/>
            <a:ext cx="128016" cy="128016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10128" y="1803783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1248" y="2370711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Blank Rows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" y="2663319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2 leading null-only rows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06240" y="1657479"/>
            <a:ext cx="3310128" cy="1417320"/>
          </a:xfrm>
          <a:prstGeom prst="roundRect">
            <a:avLst>
              <a:gd name="adj" fmla="val 4516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07408" y="1858647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1959231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2700000">
            <a:off x="7159752" y="1886079"/>
            <a:ext cx="128016" cy="128016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876288" y="1803783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407408" y="2370711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Headers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407408" y="2663319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 becomes the column header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772400" y="1657479"/>
            <a:ext cx="3310128" cy="1417320"/>
          </a:xfrm>
          <a:prstGeom prst="roundRect">
            <a:avLst>
              <a:gd name="adj" fmla="val 4516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973568" y="1858647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959231"/>
            <a:ext cx="237744" cy="23774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 rot="2700000">
            <a:off x="10725912" y="1886079"/>
            <a:ext cx="128016" cy="128016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10442448" y="1803783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7973568" y="2370711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Columns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973568" y="2663319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clear, meaningful names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40080" y="3330831"/>
            <a:ext cx="3310128" cy="1417320"/>
          </a:xfrm>
          <a:prstGeom prst="roundRect">
            <a:avLst>
              <a:gd name="adj" fmla="val 4516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841248" y="3531999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3632583"/>
            <a:ext cx="237744" cy="237744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 rot="2700000">
            <a:off x="3593592" y="3559431"/>
            <a:ext cx="128016" cy="128016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3310128" y="3477135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841248" y="4044063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Customer Name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841248" y="4336671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 / Last Name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206240" y="3330831"/>
            <a:ext cx="3310128" cy="1417320"/>
          </a:xfrm>
          <a:prstGeom prst="roundRect">
            <a:avLst>
              <a:gd name="adj" fmla="val 4516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4407408" y="3531999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992" y="3632583"/>
            <a:ext cx="237744" cy="237744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 rot="2700000">
            <a:off x="7159752" y="3559431"/>
            <a:ext cx="128016" cy="128016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6876288" y="3477135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4407408" y="4044063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Contact Info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4407408" y="4336671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 / Phone Number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7772400" y="3330831"/>
            <a:ext cx="3310128" cy="1417320"/>
          </a:xfrm>
          <a:prstGeom prst="roundRect">
            <a:avLst>
              <a:gd name="adj" fmla="val 4516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7973568" y="3531999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4152" y="3632583"/>
            <a:ext cx="237744" cy="237744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 rot="2700000">
            <a:off x="10725912" y="3559431"/>
            <a:ext cx="128016" cy="128016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10442448" y="3477135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7973568" y="4044063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Year</a:t>
            </a:r>
            <a:endParaRPr lang="en-US" sz="1400" dirty="0"/>
          </a:p>
        </p:txBody>
      </p:sp>
      <p:sp>
        <p:nvSpPr>
          <p:cNvPr id="47" name="Text 39"/>
          <p:cNvSpPr/>
          <p:nvPr/>
        </p:nvSpPr>
        <p:spPr>
          <a:xfrm>
            <a:off x="7973568" y="4336671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Year column from Date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640080" y="5004183"/>
            <a:ext cx="3310128" cy="1417320"/>
          </a:xfrm>
          <a:prstGeom prst="roundRect">
            <a:avLst>
              <a:gd name="adj" fmla="val 4516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841248" y="5205351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832" y="5305935"/>
            <a:ext cx="237744" cy="237744"/>
          </a:xfrm>
          <a:prstGeom prst="rect">
            <a:avLst/>
          </a:prstGeom>
        </p:spPr>
      </p:pic>
      <p:sp>
        <p:nvSpPr>
          <p:cNvPr id="51" name="Shape 42"/>
          <p:cNvSpPr/>
          <p:nvPr/>
        </p:nvSpPr>
        <p:spPr>
          <a:xfrm rot="2700000">
            <a:off x="3593592" y="5232783"/>
            <a:ext cx="128016" cy="128016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3"/>
          <p:cNvSpPr/>
          <p:nvPr/>
        </p:nvSpPr>
        <p:spPr>
          <a:xfrm>
            <a:off x="3310128" y="5150487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50" dirty="0"/>
          </a:p>
        </p:txBody>
      </p:sp>
      <p:sp>
        <p:nvSpPr>
          <p:cNvPr id="53" name="Text 44"/>
          <p:cNvSpPr/>
          <p:nvPr/>
        </p:nvSpPr>
        <p:spPr>
          <a:xfrm>
            <a:off x="841248" y="5717415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Products</a:t>
            </a:r>
            <a:endParaRPr lang="en-US" sz="1400" dirty="0"/>
          </a:p>
        </p:txBody>
      </p:sp>
      <p:sp>
        <p:nvSpPr>
          <p:cNvPr id="54" name="Text 45"/>
          <p:cNvSpPr/>
          <p:nvPr/>
        </p:nvSpPr>
        <p:spPr>
          <a:xfrm>
            <a:off x="841248" y="6010023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 alphabetical order</a:t>
            </a:r>
            <a:endParaRPr lang="en-US" sz="1200" dirty="0"/>
          </a:p>
        </p:txBody>
      </p:sp>
      <p:sp>
        <p:nvSpPr>
          <p:cNvPr id="55" name="Shape 46"/>
          <p:cNvSpPr/>
          <p:nvPr/>
        </p:nvSpPr>
        <p:spPr>
          <a:xfrm>
            <a:off x="4206240" y="5004183"/>
            <a:ext cx="3310128" cy="1417320"/>
          </a:xfrm>
          <a:prstGeom prst="roundRect">
            <a:avLst>
              <a:gd name="adj" fmla="val 4516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47"/>
          <p:cNvSpPr/>
          <p:nvPr/>
        </p:nvSpPr>
        <p:spPr>
          <a:xfrm>
            <a:off x="4407408" y="5205351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7992" y="5305935"/>
            <a:ext cx="237744" cy="237744"/>
          </a:xfrm>
          <a:prstGeom prst="rect">
            <a:avLst/>
          </a:prstGeom>
        </p:spPr>
      </p:pic>
      <p:sp>
        <p:nvSpPr>
          <p:cNvPr id="58" name="Shape 48"/>
          <p:cNvSpPr/>
          <p:nvPr/>
        </p:nvSpPr>
        <p:spPr>
          <a:xfrm rot="2700000">
            <a:off x="7159752" y="5232783"/>
            <a:ext cx="128016" cy="128016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49"/>
          <p:cNvSpPr/>
          <p:nvPr/>
        </p:nvSpPr>
        <p:spPr>
          <a:xfrm>
            <a:off x="6876288" y="5150487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250" dirty="0"/>
          </a:p>
        </p:txBody>
      </p:sp>
      <p:sp>
        <p:nvSpPr>
          <p:cNvPr id="60" name="Text 50"/>
          <p:cNvSpPr/>
          <p:nvPr/>
        </p:nvSpPr>
        <p:spPr>
          <a:xfrm>
            <a:off x="4407408" y="5717415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Columns</a:t>
            </a:r>
            <a:endParaRPr lang="en-US" sz="1400" dirty="0"/>
          </a:p>
        </p:txBody>
      </p:sp>
      <p:sp>
        <p:nvSpPr>
          <p:cNvPr id="61" name="Text 51"/>
          <p:cNvSpPr/>
          <p:nvPr/>
        </p:nvSpPr>
        <p:spPr>
          <a:xfrm>
            <a:off x="4407408" y="6010023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to final layout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7772400" y="5004183"/>
            <a:ext cx="3310128" cy="1417320"/>
          </a:xfrm>
          <a:prstGeom prst="roundRect">
            <a:avLst>
              <a:gd name="adj" fmla="val 4516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53"/>
          <p:cNvSpPr/>
          <p:nvPr/>
        </p:nvSpPr>
        <p:spPr>
          <a:xfrm>
            <a:off x="7973568" y="5205351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4152" y="5305935"/>
            <a:ext cx="237744" cy="237744"/>
          </a:xfrm>
          <a:prstGeom prst="rect">
            <a:avLst/>
          </a:prstGeom>
        </p:spPr>
      </p:pic>
      <p:sp>
        <p:nvSpPr>
          <p:cNvPr id="65" name="Shape 54"/>
          <p:cNvSpPr/>
          <p:nvPr/>
        </p:nvSpPr>
        <p:spPr>
          <a:xfrm rot="2700000">
            <a:off x="10725912" y="5232783"/>
            <a:ext cx="128016" cy="128016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55"/>
          <p:cNvSpPr/>
          <p:nvPr/>
        </p:nvSpPr>
        <p:spPr>
          <a:xfrm>
            <a:off x="10442448" y="5150487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250" dirty="0"/>
          </a:p>
        </p:txBody>
      </p:sp>
      <p:sp>
        <p:nvSpPr>
          <p:cNvPr id="67" name="Text 56"/>
          <p:cNvSpPr/>
          <p:nvPr/>
        </p:nvSpPr>
        <p:spPr>
          <a:xfrm>
            <a:off x="7973568" y="5717415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Finalize</a:t>
            </a:r>
            <a:endParaRPr lang="en-US" sz="1400" dirty="0"/>
          </a:p>
        </p:txBody>
      </p:sp>
      <p:sp>
        <p:nvSpPr>
          <p:cNvPr id="68" name="Text 57"/>
          <p:cNvSpPr/>
          <p:nvPr/>
        </p:nvSpPr>
        <p:spPr>
          <a:xfrm>
            <a:off x="7973568" y="6010023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zero nulls, correct types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9224" y="640454"/>
            <a:ext cx="91440" cy="91440"/>
          </a:xfrm>
          <a:prstGeom prst="rect">
            <a:avLst/>
          </a:prstGeom>
          <a:solidFill>
            <a:srgbClr val="A97B2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859536" y="5303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00 · STARTING POINT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Unusable Raw Export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 rot="2700000">
            <a:off x="644652" y="2171326"/>
            <a:ext cx="118872" cy="118872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2075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Headers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350008"/>
            <a:ext cx="42729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load as Column4 - Column9; the real field names sit buried in row 4.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2700000">
            <a:off x="644652" y="3040006"/>
            <a:ext cx="118872" cy="118872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6112" y="2944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Blank Rows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3218688"/>
            <a:ext cx="42729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2 and 3 are entirely null and carry no analytical value.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2700000">
            <a:off x="644652" y="3908686"/>
            <a:ext cx="118872" cy="118872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6112" y="3813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Fields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4087368"/>
            <a:ext cx="42729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 and Customer Name each pack two data points into one cell.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153300"/>
            <a:ext cx="4529023" cy="1051560"/>
          </a:xfrm>
          <a:prstGeom prst="roundRect">
            <a:avLst>
              <a:gd name="adj" fmla="val 5217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rot="2700000">
            <a:off x="1201522" y="5338009"/>
            <a:ext cx="186538" cy="186538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535446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5431278"/>
            <a:ext cx="395021" cy="39502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72768" y="5299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572768" y="5610500"/>
            <a:ext cx="3596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starting point for the 9 transform steps that follow.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317472" y="1267291"/>
            <a:ext cx="6382512" cy="3758157"/>
          </a:xfrm>
          <a:prstGeom prst="roundRect">
            <a:avLst>
              <a:gd name="adj" fmla="val 1217"/>
            </a:avLst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1" descr="/home/claude/deck/images/Messy_data_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488" y="1395307"/>
            <a:ext cx="6126480" cy="350212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3CEE2A8-C5C0-E4D7-0E87-C76364DFF59E}"/>
              </a:ext>
            </a:extLst>
          </p:cNvPr>
          <p:cNvSpPr/>
          <p:nvPr/>
        </p:nvSpPr>
        <p:spPr>
          <a:xfrm>
            <a:off x="5650991" y="1595542"/>
            <a:ext cx="5788339" cy="15638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9224" y="640454"/>
            <a:ext cx="91440" cy="91440"/>
          </a:xfrm>
          <a:prstGeom prst="rect">
            <a:avLst/>
          </a:prstGeom>
          <a:solidFill>
            <a:srgbClr val="A97B2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859536" y="5303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01–02 · STRUCTURE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Rows &amp; Promote Headers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Remove Rows → Remove Top Rows (2), then Use First Row as Headers to promote the real field names.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303520" cy="3429000"/>
          </a:xfrm>
          <a:prstGeom prst="roundRect">
            <a:avLst>
              <a:gd name="adj" fmla="val 1867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2700000">
            <a:off x="1229868" y="2409444"/>
            <a:ext cx="155448" cy="155448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48716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6192" y="24414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Top Rows</a:t>
            </a:r>
            <a:endParaRPr lang="en-US" sz="1400" dirty="0"/>
          </a:p>
        </p:txBody>
      </p:sp>
      <p:pic>
        <p:nvPicPr>
          <p:cNvPr id="11" name="Image 1" descr="/home/claude/deck/images/Remove_top_ro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63240"/>
            <a:ext cx="5029200" cy="1539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5120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rows removed- both were entirely null.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63640" y="2148840"/>
            <a:ext cx="5285232" cy="3429000"/>
          </a:xfrm>
          <a:prstGeom prst="roundRect">
            <a:avLst>
              <a:gd name="adj" fmla="val 1867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 rot="2700000">
            <a:off x="6853428" y="2409444"/>
            <a:ext cx="155448" cy="155448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537960" y="2423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24871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59752" y="24414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First Row as Headers</a:t>
            </a:r>
            <a:endParaRPr lang="en-US" sz="1400" dirty="0"/>
          </a:p>
        </p:txBody>
      </p:sp>
      <p:pic>
        <p:nvPicPr>
          <p:cNvPr id="18" name="Image 3" descr="/home/claude/deck/images/1st_row_as_hea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3056061"/>
            <a:ext cx="4572000" cy="20506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63478" y="5157216"/>
            <a:ext cx="518539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 (Contact Info, Products, Quantity…) is promoted to become the header row.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40007B-CDF6-59F1-65DF-71CCE1F7EC63}"/>
              </a:ext>
            </a:extLst>
          </p:cNvPr>
          <p:cNvSpPr txBox="1"/>
          <p:nvPr/>
        </p:nvSpPr>
        <p:spPr>
          <a:xfrm>
            <a:off x="6620256" y="3227554"/>
            <a:ext cx="4078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Transform tab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Use First Row as Headers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0F32CC-A9AE-9CEB-9BD5-1D7B633BA7EF}"/>
              </a:ext>
            </a:extLst>
          </p:cNvPr>
          <p:cNvSpPr/>
          <p:nvPr/>
        </p:nvSpPr>
        <p:spPr>
          <a:xfrm>
            <a:off x="7159752" y="4329404"/>
            <a:ext cx="2460109" cy="363894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9224" y="640454"/>
            <a:ext cx="91440" cy="91440"/>
          </a:xfrm>
          <a:prstGeom prst="rect">
            <a:avLst/>
          </a:prstGeom>
          <a:solidFill>
            <a:srgbClr val="A97B2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859536" y="5303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 · COLUMN SPLIT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Customer Name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Split Column → By Delimiter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Delimiter: Space, split at the left-most occurrence.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5029200" cy="960120"/>
          </a:xfrm>
          <a:prstGeom prst="roundRect">
            <a:avLst>
              <a:gd name="adj" fmla="val 5714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2700000">
            <a:off x="1201522" y="3065069"/>
            <a:ext cx="186538" cy="186538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308152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3158338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72768" y="30266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72768" y="3337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before the space delimiter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4023360"/>
            <a:ext cx="5029200" cy="960120"/>
          </a:xfrm>
          <a:prstGeom prst="roundRect">
            <a:avLst>
              <a:gd name="adj" fmla="val 5714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rot="2700000">
            <a:off x="1201522" y="4208069"/>
            <a:ext cx="186538" cy="186538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22960" y="422452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4301338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72768" y="41696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572768" y="4480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after the space delimiter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9944" y="2169902"/>
            <a:ext cx="5102352" cy="3615476"/>
          </a:xfrm>
          <a:prstGeom prst="roundRect">
            <a:avLst>
              <a:gd name="adj" fmla="val 1265"/>
            </a:avLst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deck/images/Split_Customer_n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297918"/>
            <a:ext cx="4846320" cy="33594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9224" y="640454"/>
            <a:ext cx="91440" cy="91440"/>
          </a:xfrm>
          <a:prstGeom prst="rect">
            <a:avLst/>
          </a:prstGeom>
          <a:solidFill>
            <a:srgbClr val="A97B2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859536" y="5303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 · COLUMN SPLIT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Contact Info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Split Column → By Delimiter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Delimiter: Comma, split at the left-most occurrence.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5029200" cy="960120"/>
          </a:xfrm>
          <a:prstGeom prst="roundRect">
            <a:avLst>
              <a:gd name="adj" fmla="val 5714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2700000">
            <a:off x="1201522" y="3065069"/>
            <a:ext cx="186538" cy="186538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308152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572768" y="30266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72768" y="3337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before the comma delimiter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4023360"/>
            <a:ext cx="5029200" cy="960120"/>
          </a:xfrm>
          <a:prstGeom prst="roundRect">
            <a:avLst>
              <a:gd name="adj" fmla="val 5714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rot="2700000">
            <a:off x="1201522" y="4208069"/>
            <a:ext cx="186538" cy="186538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22960" y="422452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1572768" y="41696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572768" y="4480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after the comma delimiter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9944" y="2175694"/>
            <a:ext cx="5102352" cy="3603892"/>
          </a:xfrm>
          <a:prstGeom prst="roundRect">
            <a:avLst>
              <a:gd name="adj" fmla="val 1269"/>
            </a:avLst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deck/images/Split_Contact_info_c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303710"/>
            <a:ext cx="4846320" cy="3347860"/>
          </a:xfrm>
          <a:prstGeom prst="rect">
            <a:avLst/>
          </a:prstGeom>
        </p:spPr>
      </p:pic>
      <p:pic>
        <p:nvPicPr>
          <p:cNvPr id="23" name="Graphic 22" descr="Receiver with solid fill">
            <a:extLst>
              <a:ext uri="{FF2B5EF4-FFF2-40B4-BE49-F238E27FC236}">
                <a16:creationId xmlns:a16="http://schemas.microsoft.com/office/drawing/2014/main" id="{E197027A-029D-513C-8644-3338508BF2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5626" y="4316477"/>
            <a:ext cx="364961" cy="364961"/>
          </a:xfrm>
          <a:prstGeom prst="rect">
            <a:avLst/>
          </a:prstGeom>
        </p:spPr>
      </p:pic>
      <p:pic>
        <p:nvPicPr>
          <p:cNvPr id="25" name="Graphic 24" descr="Envelope with solid fill">
            <a:extLst>
              <a:ext uri="{FF2B5EF4-FFF2-40B4-BE49-F238E27FC236}">
                <a16:creationId xmlns:a16="http://schemas.microsoft.com/office/drawing/2014/main" id="{F18E2B8A-F6C6-AB35-2C86-583A9AFDA3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946" y="3121277"/>
            <a:ext cx="457627" cy="457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9224" y="640454"/>
            <a:ext cx="91440" cy="91440"/>
          </a:xfrm>
          <a:prstGeom prst="rect">
            <a:avLst/>
          </a:prstGeom>
          <a:solidFill>
            <a:srgbClr val="A97B2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859536" y="5303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 · DATE INTELLIGENCE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Extracting the Year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Date column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 → Date → Year → Year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reads each Date value and generates a new Year column, giving the table a ready-made field for time-based grouping and reporting.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5029200" cy="1234440"/>
          </a:xfrm>
          <a:prstGeom prst="roundRect">
            <a:avLst>
              <a:gd name="adj" fmla="val 4444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2700000">
            <a:off x="1201522" y="4098341"/>
            <a:ext cx="186538" cy="186538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4191610"/>
            <a:ext cx="395021" cy="39502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72768" y="40599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Column: Year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72768" y="4389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distinct values · derived directly from Date, 0 errors.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9944" y="2138009"/>
            <a:ext cx="5376672" cy="3679262"/>
          </a:xfrm>
          <a:prstGeom prst="roundRect">
            <a:avLst>
              <a:gd name="adj" fmla="val 1243"/>
            </a:avLst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/home/claude/deck/images/Year_from_d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266025"/>
            <a:ext cx="5120640" cy="342323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0CD1425A-F1D2-9D91-34EA-A0A072516082}"/>
              </a:ext>
            </a:extLst>
          </p:cNvPr>
          <p:cNvSpPr/>
          <p:nvPr/>
        </p:nvSpPr>
        <p:spPr>
          <a:xfrm>
            <a:off x="6537960" y="3886200"/>
            <a:ext cx="2550056" cy="17373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0E0039B-5CAB-BD04-6DCC-1672B012390B}"/>
                  </a:ext>
                </a:extLst>
              </p14:cNvPr>
              <p14:cNvContentPartPr/>
              <p14:nvPr/>
            </p14:nvContentPartPr>
            <p14:xfrm>
              <a:off x="6951152" y="3022670"/>
              <a:ext cx="774720" cy="745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0E0039B-5CAB-BD04-6DCC-1672B01239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45032" y="3016550"/>
                <a:ext cx="786960" cy="75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7AD2361-169A-1047-28C8-6995C89D2F3D}"/>
                  </a:ext>
                </a:extLst>
              </p14:cNvPr>
              <p14:cNvContentPartPr/>
              <p14:nvPr/>
            </p14:nvContentPartPr>
            <p14:xfrm>
              <a:off x="7544072" y="3571670"/>
              <a:ext cx="339840" cy="191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7AD2361-169A-1047-28C8-6995C89D2F3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37952" y="3565550"/>
                <a:ext cx="352080" cy="20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9224" y="640454"/>
            <a:ext cx="91440" cy="91440"/>
          </a:xfrm>
          <a:prstGeom prst="rect">
            <a:avLst/>
          </a:prstGeom>
          <a:solidFill>
            <a:srgbClr val="A97B2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859536" y="5303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07–09 · FINAL STRUCTURE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Sort, Reorder &amp; Trim the Table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every field split and typed correctly, the table is put into its final reporting shape.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29968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2700000">
            <a:off x="1401775" y="2330806"/>
            <a:ext cx="217627" cy="217627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235000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31" y="2439619"/>
            <a:ext cx="460858" cy="4608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200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Ascending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6576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sorted by the Products column, A → Z, so related items group together.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61688" y="2029968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rot="2700000">
            <a:off x="5123383" y="2330806"/>
            <a:ext cx="217627" cy="217627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81728" y="235000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1339" y="2439619"/>
            <a:ext cx="460858" cy="46085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81728" y="3200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Columns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81728" y="36576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First/Last Name, Address, Email, Phone, Products, Quantity, Price, Total, Date, Year.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83296" y="2029968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BF4EC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 rot="2700000">
            <a:off x="8844991" y="2330806"/>
            <a:ext cx="217627" cy="217627"/>
          </a:xfrm>
          <a:prstGeom prst="rect">
            <a:avLst/>
          </a:prstGeom>
          <a:solidFill>
            <a:srgbClr val="BB5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403336" y="235000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947" y="2439619"/>
            <a:ext cx="460858" cy="46085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03336" y="3200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Extras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403336" y="36576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leftover blank rows or helper columns are cleared from the query.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9224" y="594734"/>
            <a:ext cx="91440" cy="91440"/>
          </a:xfrm>
          <a:prstGeom prst="rect">
            <a:avLst/>
          </a:prstGeom>
          <a:solidFill>
            <a:srgbClr val="A97B2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859536" y="4846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· QUALITY CHECK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Final, Verified Dataset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07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Column-quality view confirms 100% valid values across every field - no errors, no empties, table is ready for the analysis.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4312" y="1837944"/>
            <a:ext cx="10863072" cy="2045484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ck/images/After_clea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8" y="1965960"/>
            <a:ext cx="10607040" cy="17894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4312" y="4313196"/>
            <a:ext cx="10863072" cy="2061671"/>
          </a:xfrm>
          <a:prstGeom prst="roundRect">
            <a:avLst>
              <a:gd name="adj" fmla="val 2218"/>
            </a:avLst>
          </a:prstGeom>
          <a:solidFill>
            <a:srgbClr val="FFFFFF"/>
          </a:solidFill>
          <a:ln w="12700">
            <a:solidFill>
              <a:srgbClr val="EDE0D2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ck/images/After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28" y="4441212"/>
            <a:ext cx="10607040" cy="18056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584</Words>
  <Application>Microsoft Office PowerPoint</Application>
  <PresentationFormat>Widescreen</PresentationFormat>
  <Paragraphs>103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Query Data Transformation</dc:title>
  <dc:subject>PptxGenJS Presentation</dc:subject>
  <dc:creator>Power Query Assignment</dc:creator>
  <cp:lastModifiedBy>Office</cp:lastModifiedBy>
  <cp:revision>10</cp:revision>
  <dcterms:created xsi:type="dcterms:W3CDTF">2026-07-04T06:01:13Z</dcterms:created>
  <dcterms:modified xsi:type="dcterms:W3CDTF">2026-07-04T09:27:07Z</dcterms:modified>
</cp:coreProperties>
</file>